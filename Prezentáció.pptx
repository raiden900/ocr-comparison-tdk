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1" r:id="rId9"/>
    <p:sldId id="270" r:id="rId10"/>
    <p:sldId id="272" r:id="rId11"/>
    <p:sldId id="273" r:id="rId12"/>
    <p:sldId id="265" r:id="rId13"/>
    <p:sldId id="267" r:id="rId14"/>
    <p:sldId id="268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4E835F-C1C2-5A94-37C5-4A1E81FA48CE}" v="8" dt="2026-05-18T17:09:11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8D0884-C987-F1AD-E7E2-37B4EDE62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249" y="504932"/>
            <a:ext cx="8498418" cy="1620254"/>
          </a:xfrm>
        </p:spPr>
        <p:txBody>
          <a:bodyPr anchor="t"/>
          <a:lstStyle/>
          <a:p>
            <a:pPr algn="ctr"/>
            <a:r>
              <a:rPr lang="hu-HU" sz="3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Szöveges dokumentumok felismerésének vizsgálata különböző OCR rendszerek összehasonlításával</a:t>
            </a:r>
            <a:r>
              <a:rPr lang="hu-HU" sz="3800" dirty="0">
                <a:effectLst/>
              </a:rPr>
              <a:t> </a:t>
            </a:r>
            <a:br>
              <a:rPr lang="hu-HU" sz="3800" b="1" dirty="0">
                <a:effectLst/>
                <a:cs typeface="Arial" panose="020B0604020202020204" pitchFamily="34" charset="0"/>
              </a:rPr>
            </a:br>
            <a:endParaRPr lang="hu-HU" sz="3800" b="1" dirty="0">
              <a:cs typeface="Arial" panose="020B0604020202020204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1AD1497-C6EC-CCB8-DF2D-B17FA4D3D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223" y="5061767"/>
            <a:ext cx="4348694" cy="500698"/>
          </a:xfrm>
        </p:spPr>
        <p:txBody>
          <a:bodyPr>
            <a:normAutofit/>
          </a:bodyPr>
          <a:lstStyle/>
          <a:p>
            <a:pPr algn="l"/>
            <a:r>
              <a:rPr lang="hu-HU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Előadó neve: Velekey Ádám (H3Q42Y)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6AF3ACB-8986-92B9-C224-45101F5E4163}"/>
              </a:ext>
            </a:extLst>
          </p:cNvPr>
          <p:cNvSpPr txBox="1"/>
          <p:nvPr/>
        </p:nvSpPr>
        <p:spPr>
          <a:xfrm>
            <a:off x="276223" y="5792749"/>
            <a:ext cx="421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Dátum: 2026. Április 13.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1E9212A-7C00-59F9-AA80-157928A8EB81}"/>
              </a:ext>
            </a:extLst>
          </p:cNvPr>
          <p:cNvSpPr txBox="1"/>
          <p:nvPr/>
        </p:nvSpPr>
        <p:spPr>
          <a:xfrm>
            <a:off x="634999" y="2762479"/>
            <a:ext cx="5461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Megközelítheti-e a gépi látás az emberi vizuális észlelés pontosságát?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1EFAB744-9B69-4E24-4FCE-48E948FA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417" y="2302851"/>
            <a:ext cx="3386667" cy="225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3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9A9A73-D28A-8979-E290-16E51520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4064438" cy="1215113"/>
          </a:xfrm>
        </p:spPr>
        <p:txBody>
          <a:bodyPr>
            <a:normAutofit/>
          </a:bodyPr>
          <a:lstStyle/>
          <a:p>
            <a:r>
              <a:rPr lang="hu-HU" b="1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B0BF66-220A-66DC-6BDF-32C8F7B27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6210" y="1463899"/>
            <a:ext cx="4358231" cy="478450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hu-HU" sz="1600" b="1" dirty="0"/>
              <a:t>1. Bevezetés és célkitűzés:</a:t>
            </a:r>
            <a:r>
              <a:rPr lang="hu-HU" sz="1600" dirty="0"/>
              <a:t>	</a:t>
            </a:r>
          </a:p>
          <a:p>
            <a:pPr>
              <a:lnSpc>
                <a:spcPct val="90000"/>
              </a:lnSpc>
            </a:pPr>
            <a:r>
              <a:rPr lang="hu-HU" sz="1600" b="1" dirty="0"/>
              <a:t>2. Elméleti háttér, OCR alapok és </a:t>
            </a:r>
            <a:r>
              <a:rPr lang="hu-HU" sz="1600" b="1" dirty="0" err="1"/>
              <a:t>előfeldolgozás</a:t>
            </a:r>
            <a:endParaRPr lang="hu-HU" sz="1600" dirty="0"/>
          </a:p>
          <a:p>
            <a:pPr>
              <a:lnSpc>
                <a:spcPct val="90000"/>
              </a:lnSpc>
            </a:pPr>
            <a:r>
              <a:rPr lang="hu-HU" sz="1600" b="1" dirty="0"/>
              <a:t>3. A rendszer felépítése és működése</a:t>
            </a:r>
            <a:endParaRPr lang="hu-HU" sz="1600" dirty="0"/>
          </a:p>
          <a:p>
            <a:pPr>
              <a:lnSpc>
                <a:spcPct val="90000"/>
              </a:lnSpc>
            </a:pPr>
            <a:r>
              <a:rPr lang="hu-HU" sz="1600" b="1" dirty="0"/>
              <a:t>4. Képfeldolgozási lépések</a:t>
            </a:r>
            <a:endParaRPr lang="hu-HU" sz="1600" dirty="0"/>
          </a:p>
          <a:p>
            <a:pPr>
              <a:lnSpc>
                <a:spcPct val="90000"/>
              </a:lnSpc>
            </a:pPr>
            <a:r>
              <a:rPr lang="hu-HU" sz="1600" b="1" dirty="0"/>
              <a:t>5. Valós képek tesztelése </a:t>
            </a:r>
          </a:p>
          <a:p>
            <a:pPr>
              <a:lnSpc>
                <a:spcPct val="90000"/>
              </a:lnSpc>
            </a:pPr>
            <a:r>
              <a:rPr lang="hu-HU" sz="1600" b="1" dirty="0"/>
              <a:t>6. Valós képek – OCR Eredmények</a:t>
            </a:r>
          </a:p>
          <a:p>
            <a:pPr>
              <a:lnSpc>
                <a:spcPct val="90000"/>
              </a:lnSpc>
            </a:pPr>
            <a:r>
              <a:rPr lang="hu-HU" sz="1600" b="1" dirty="0"/>
              <a:t>7. EMNIST alapú tesztelés</a:t>
            </a:r>
          </a:p>
          <a:p>
            <a:pPr>
              <a:lnSpc>
                <a:spcPct val="90000"/>
              </a:lnSpc>
            </a:pPr>
            <a:r>
              <a:rPr lang="hu-HU" sz="1600" b="1" dirty="0"/>
              <a:t>8. EMNIST Eredmények</a:t>
            </a:r>
          </a:p>
          <a:p>
            <a:pPr>
              <a:lnSpc>
                <a:spcPct val="90000"/>
              </a:lnSpc>
            </a:pPr>
            <a:r>
              <a:rPr lang="hu-HU" sz="1600" b="1" dirty="0"/>
              <a:t>9. Valós és EMNIST eredmények összehasonlítása</a:t>
            </a:r>
            <a:endParaRPr lang="hu-HU" sz="1600" dirty="0"/>
          </a:p>
          <a:p>
            <a:pPr>
              <a:lnSpc>
                <a:spcPct val="90000"/>
              </a:lnSpc>
            </a:pPr>
            <a:r>
              <a:rPr lang="hu-HU" sz="1600" b="1" dirty="0"/>
              <a:t>10. Hibás esetek elemzése</a:t>
            </a:r>
            <a:r>
              <a:rPr lang="hu-HU" sz="1600" dirty="0"/>
              <a:t>	</a:t>
            </a:r>
          </a:p>
          <a:p>
            <a:pPr>
              <a:lnSpc>
                <a:spcPct val="90000"/>
              </a:lnSpc>
            </a:pPr>
            <a:r>
              <a:rPr lang="hu-HU" sz="1600" dirty="0"/>
              <a:t>11. </a:t>
            </a:r>
            <a:r>
              <a:rPr lang="hu-HU" sz="1600" b="1" dirty="0"/>
              <a:t>Összegzés és továbbfejlesztési lehetőségek</a:t>
            </a:r>
          </a:p>
          <a:p>
            <a:pPr>
              <a:lnSpc>
                <a:spcPct val="90000"/>
              </a:lnSpc>
            </a:pPr>
            <a:endParaRPr lang="hu-HU" sz="1600" b="1" dirty="0"/>
          </a:p>
          <a:p>
            <a:pPr>
              <a:lnSpc>
                <a:spcPct val="90000"/>
              </a:lnSpc>
            </a:pPr>
            <a:endParaRPr lang="hu-HU" sz="1600" b="1" dirty="0"/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ABF4BD1F-A413-BC1F-8BD8-3D69CEB551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60" r="3910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5" name="Isosceles Triangle 3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8658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6FA6D6EB-9DEC-D140-D9CB-85681EFC88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2" r="15495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5ADC2F8-3566-6C32-D372-53BE5BAF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hu-HU" sz="2600" b="1" dirty="0"/>
              <a:t>Bevezetés és célkitűzés</a:t>
            </a:r>
            <a:br>
              <a:rPr lang="hu-HU" sz="2600" b="1" dirty="0"/>
            </a:br>
            <a:br>
              <a:rPr lang="hu-HU" sz="1700" dirty="0">
                <a:cs typeface="Arial" panose="020B0604020202020204" pitchFamily="34" charset="0"/>
              </a:rPr>
            </a:br>
            <a:r>
              <a:rPr lang="hu-HU" sz="2000" i="1" dirty="0">
                <a:solidFill>
                  <a:schemeClr val="accent1">
                    <a:lumMod val="50000"/>
                  </a:schemeClr>
                </a:solidFill>
              </a:rPr>
              <a:t>Hogyan befolyásolja az </a:t>
            </a:r>
            <a:r>
              <a:rPr lang="hu-HU" sz="2000" i="1" dirty="0" err="1">
                <a:solidFill>
                  <a:schemeClr val="accent1">
                    <a:lumMod val="50000"/>
                  </a:schemeClr>
                </a:solidFill>
              </a:rPr>
              <a:t>előfeldolgozás</a:t>
            </a:r>
            <a:r>
              <a:rPr lang="hu-HU" sz="2000" i="1" dirty="0">
                <a:solidFill>
                  <a:schemeClr val="accent1">
                    <a:lumMod val="50000"/>
                  </a:schemeClr>
                </a:solidFill>
              </a:rPr>
              <a:t> az OCR pontosságát?</a:t>
            </a:r>
            <a:endParaRPr lang="hu-HU" sz="2000" i="1" dirty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B556F8-C58E-F6A1-7CB1-EF7CCC647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1300" b="1" dirty="0"/>
              <a:t>Problémafelvetés </a:t>
            </a:r>
            <a:r>
              <a:rPr lang="hu-HU" sz="1300" dirty="0"/>
              <a:t>– A </a:t>
            </a:r>
            <a:r>
              <a:rPr lang="hu-HU" sz="1300"/>
              <a:t>szkennelt</a:t>
            </a:r>
            <a:r>
              <a:rPr lang="hu-HU" sz="1300" dirty="0"/>
              <a:t> vagy telefonnal készített dokumentumképek gyakran torzak, zajosak vagy rossz megvilágításúak, ami jelentősen rontja az OCR rendszerek felismerési pontosságát.</a:t>
            </a:r>
          </a:p>
          <a:p>
            <a:pPr>
              <a:lnSpc>
                <a:spcPct val="90000"/>
              </a:lnSpc>
            </a:pPr>
            <a:r>
              <a:rPr lang="hu-HU" sz="1300" b="1" dirty="0"/>
              <a:t>Miért aktuális a téma </a:t>
            </a:r>
            <a:r>
              <a:rPr lang="hu-HU" sz="1300" dirty="0"/>
              <a:t>- A dokumentumok digitalizálása (számlák, jegyzetek, szerződések) ma is széles körben elterjedt, ezért fontos a megbízható automatikus szövegfelismerés.</a:t>
            </a:r>
          </a:p>
          <a:p>
            <a:pPr>
              <a:lnSpc>
                <a:spcPct val="90000"/>
              </a:lnSpc>
            </a:pPr>
            <a:r>
              <a:rPr lang="hu-HU" sz="1300" b="1" dirty="0"/>
              <a:t>Projekt célja </a:t>
            </a:r>
            <a:r>
              <a:rPr lang="hu-HU" sz="1300" dirty="0"/>
              <a:t>- Dokumentumképek </a:t>
            </a:r>
            <a:r>
              <a:rPr lang="hu-HU" sz="1300"/>
              <a:t>előfeldolgozása</a:t>
            </a:r>
            <a:r>
              <a:rPr lang="hu-HU" sz="1300" dirty="0"/>
              <a:t> képfeldolgozási módszerekkel, majd annak vizsgálata, hogyan változik az OCR pontossága.</a:t>
            </a:r>
            <a:r>
              <a:rPr lang="hu-HU" sz="1300" b="1" dirty="0"/>
              <a:t> </a:t>
            </a:r>
          </a:p>
          <a:p>
            <a:pPr>
              <a:lnSpc>
                <a:spcPct val="90000"/>
              </a:lnSpc>
            </a:pPr>
            <a:r>
              <a:rPr lang="hu-HU" sz="1300" b="1" dirty="0"/>
              <a:t>Kutatási kérdés </a:t>
            </a:r>
            <a:r>
              <a:rPr lang="hu-HU" sz="1300" dirty="0"/>
              <a:t>- Milyen mértékben javítja az </a:t>
            </a:r>
            <a:r>
              <a:rPr lang="hu-HU" sz="1300"/>
              <a:t>előfeldolgozás a klasszikus és neurális OCR rendszerek </a:t>
            </a:r>
            <a:r>
              <a:rPr lang="hu-HU" sz="1300" dirty="0"/>
              <a:t>felismerési eredményeit?</a:t>
            </a:r>
          </a:p>
          <a:p>
            <a:pPr>
              <a:lnSpc>
                <a:spcPct val="90000"/>
              </a:lnSpc>
            </a:pPr>
            <a:endParaRPr lang="hu-HU" sz="1300" dirty="0"/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1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9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831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C8BD14-48AD-9FFD-C2D2-A7123845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800" dirty="0"/>
              <a:t>Elméleti háttér – OCR alapok és </a:t>
            </a:r>
            <a:r>
              <a:rPr lang="hu-HU" sz="2800" dirty="0" err="1"/>
              <a:t>előfeldolgozás</a:t>
            </a:r>
            <a:br>
              <a:rPr lang="hu-HU" sz="2800" dirty="0"/>
            </a:br>
            <a:br>
              <a:rPr lang="hu-HU" sz="2800" b="1" dirty="0"/>
            </a:br>
            <a:endParaRPr lang="hu-HU" sz="2800" b="1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6823C37-B415-FEF5-043F-BD252B9DD883}"/>
              </a:ext>
            </a:extLst>
          </p:cNvPr>
          <p:cNvSpPr txBox="1"/>
          <p:nvPr/>
        </p:nvSpPr>
        <p:spPr>
          <a:xfrm>
            <a:off x="5186891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hu-HU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91C9A32-2A66-2078-EA40-363D66E0B38C}"/>
              </a:ext>
            </a:extLst>
          </p:cNvPr>
          <p:cNvSpPr txBox="1"/>
          <p:nvPr/>
        </p:nvSpPr>
        <p:spPr>
          <a:xfrm>
            <a:off x="677334" y="1110496"/>
            <a:ext cx="6101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500" dirty="0"/>
              <a:t>Mi az OCR? Az OCR (</a:t>
            </a:r>
            <a:r>
              <a:rPr lang="hu-HU" sz="1500" dirty="0" err="1"/>
              <a:t>Optical</a:t>
            </a:r>
            <a:r>
              <a:rPr lang="hu-HU" sz="1500" dirty="0"/>
              <a:t> </a:t>
            </a:r>
            <a:r>
              <a:rPr lang="hu-HU" sz="1500" dirty="0" err="1"/>
              <a:t>Character</a:t>
            </a:r>
            <a:r>
              <a:rPr lang="hu-HU" sz="1500" dirty="0"/>
              <a:t> Recognition) célja, hogy képeken található szöveget automatikusan digitális szöveggé alakítson.</a:t>
            </a:r>
          </a:p>
          <a:p>
            <a:pPr>
              <a:buNone/>
            </a:pPr>
            <a:endParaRPr lang="hu-HU" sz="15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CDDD462E-768C-C121-96EA-83BE9331633F}"/>
              </a:ext>
            </a:extLst>
          </p:cNvPr>
          <p:cNvSpPr txBox="1"/>
          <p:nvPr/>
        </p:nvSpPr>
        <p:spPr>
          <a:xfrm>
            <a:off x="682986" y="2159662"/>
            <a:ext cx="50955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hu-HU" sz="1400" b="1" dirty="0">
                <a:solidFill>
                  <a:schemeClr val="accent1"/>
                </a:solidFill>
              </a:rPr>
              <a:t>Miért fontos az </a:t>
            </a:r>
            <a:r>
              <a:rPr lang="hu-HU" sz="1400" b="1" dirty="0" err="1">
                <a:solidFill>
                  <a:schemeClr val="accent1"/>
                </a:solidFill>
              </a:rPr>
              <a:t>előfeldolgozás</a:t>
            </a:r>
            <a:r>
              <a:rPr lang="hu-HU" sz="1400" b="1" dirty="0">
                <a:solidFill>
                  <a:schemeClr val="accent1"/>
                </a:solidFill>
              </a:rPr>
              <a:t>?</a:t>
            </a:r>
            <a:r>
              <a:rPr lang="hu-HU" sz="1400" b="1" dirty="0"/>
              <a:t> </a:t>
            </a:r>
            <a:r>
              <a:rPr lang="hu-HU" sz="1400" dirty="0"/>
              <a:t>A nyers képek gyakran zajosak, torzak, rosszul megvilágítottak, ami jelentősen rontja a felismerést.</a:t>
            </a:r>
          </a:p>
          <a:p>
            <a:pPr marL="285750" indent="-285750">
              <a:buFont typeface="Wingdings" pitchFamily="2" charset="2"/>
              <a:buChar char="Ø"/>
            </a:pPr>
            <a:endParaRPr lang="hu-HU" sz="1400" b="1" dirty="0">
              <a:solidFill>
                <a:schemeClr val="accent1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endParaRPr lang="hu-HU" sz="1400" b="1" dirty="0">
              <a:solidFill>
                <a:schemeClr val="accent1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hu-HU" sz="1400" b="1" dirty="0">
                <a:solidFill>
                  <a:schemeClr val="accent1"/>
                </a:solidFill>
              </a:rPr>
              <a:t>Az OCR működésének fő lépései: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400" dirty="0"/>
              <a:t>Szövegterületek detektálása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400" dirty="0"/>
              <a:t>Karakterek szegmentálása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400" dirty="0"/>
              <a:t>Karakterfelismerés (mintázat / </a:t>
            </a:r>
            <a:r>
              <a:rPr lang="hu-HU" sz="1400" dirty="0" err="1"/>
              <a:t>neurális</a:t>
            </a:r>
            <a:r>
              <a:rPr lang="hu-HU" sz="1400" dirty="0"/>
              <a:t> háló)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400" dirty="0"/>
              <a:t>Utófeldolgozás (hibajavítás)</a:t>
            </a:r>
          </a:p>
          <a:p>
            <a:pPr>
              <a:buNone/>
            </a:pPr>
            <a:endParaRPr lang="hu-HU" sz="1400" dirty="0"/>
          </a:p>
          <a:p>
            <a:pPr>
              <a:buNone/>
            </a:pPr>
            <a:endParaRPr lang="hu-HU" sz="1400" dirty="0"/>
          </a:p>
          <a:p>
            <a:pPr marL="285750" indent="-285750">
              <a:buFont typeface="Wingdings" pitchFamily="2" charset="2"/>
              <a:buChar char="Ø"/>
            </a:pPr>
            <a:r>
              <a:rPr lang="hu-HU" sz="1400" b="1" dirty="0">
                <a:solidFill>
                  <a:schemeClr val="accent1"/>
                </a:solidFill>
              </a:rPr>
              <a:t>Tipikus </a:t>
            </a:r>
            <a:r>
              <a:rPr lang="hu-HU" sz="1400" b="1" dirty="0" err="1">
                <a:solidFill>
                  <a:schemeClr val="accent1"/>
                </a:solidFill>
              </a:rPr>
              <a:t>előfeldolgozási</a:t>
            </a:r>
            <a:r>
              <a:rPr lang="hu-HU" sz="1400" b="1" dirty="0">
                <a:solidFill>
                  <a:schemeClr val="accent1"/>
                </a:solidFill>
              </a:rPr>
              <a:t> lépések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400" dirty="0"/>
              <a:t>Szürkeárnyalatosítás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400" dirty="0"/>
              <a:t>Zajszűrés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400" dirty="0" err="1"/>
              <a:t>Binarizálás</a:t>
            </a:r>
            <a:endParaRPr lang="hu-HU" sz="1400" dirty="0"/>
          </a:p>
          <a:p>
            <a:pPr marL="857250" lvl="1" indent="-400050">
              <a:buFont typeface="+mj-lt"/>
              <a:buAutoNum type="romanUcPeriod"/>
            </a:pPr>
            <a:r>
              <a:rPr lang="hu-HU" sz="1400" dirty="0"/>
              <a:t>Kontrasztjavítás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400" dirty="0"/>
              <a:t>Perspektívakorrekció</a:t>
            </a:r>
          </a:p>
        </p:txBody>
      </p:sp>
      <p:pic>
        <p:nvPicPr>
          <p:cNvPr id="23" name="Kép 22">
            <a:extLst>
              <a:ext uri="{FF2B5EF4-FFF2-40B4-BE49-F238E27FC236}">
                <a16:creationId xmlns:a16="http://schemas.microsoft.com/office/drawing/2014/main" id="{E9E08749-2FBC-91DF-AAF5-58481F201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834" y="2126159"/>
            <a:ext cx="3495503" cy="2517947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199F073D-A991-DEE9-1B8F-86D5FEA46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1" y="5266380"/>
            <a:ext cx="3937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5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7C638B-C4FE-FE7B-C141-379DC40E5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98" y="315149"/>
            <a:ext cx="8584585" cy="1091385"/>
          </a:xfrm>
        </p:spPr>
        <p:txBody>
          <a:bodyPr>
            <a:normAutofit/>
          </a:bodyPr>
          <a:lstStyle/>
          <a:p>
            <a:r>
              <a:rPr lang="hu-HU" b="1"/>
              <a:t>A rendszer felépítése és működése</a:t>
            </a:r>
            <a:endParaRPr lang="hu-HU" b="1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868C05F-A61F-23A1-3BCB-37D5B0536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309" y="2595439"/>
            <a:ext cx="1605034" cy="1202226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E6357E11-05DD-F2F3-CD0C-B62576858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983" y="2463372"/>
            <a:ext cx="1985722" cy="1290719"/>
          </a:xfrm>
          <a:prstGeom prst="rect">
            <a:avLst/>
          </a:prstGeom>
        </p:spPr>
      </p:pic>
      <p:sp>
        <p:nvSpPr>
          <p:cNvPr id="15" name="Tartalom helye 2">
            <a:extLst>
              <a:ext uri="{FF2B5EF4-FFF2-40B4-BE49-F238E27FC236}">
                <a16:creationId xmlns:a16="http://schemas.microsoft.com/office/drawing/2014/main" id="{2FB17F01-418E-97DF-BA58-57B84326E2EF}"/>
              </a:ext>
            </a:extLst>
          </p:cNvPr>
          <p:cNvSpPr>
            <a:spLocks noGrp="1"/>
          </p:cNvSpPr>
          <p:nvPr/>
        </p:nvSpPr>
        <p:spPr>
          <a:xfrm>
            <a:off x="677331" y="3420798"/>
            <a:ext cx="4254501" cy="1130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sz="1600" dirty="0"/>
          </a:p>
          <a:p>
            <a:pPr>
              <a:lnSpc>
                <a:spcPct val="90000"/>
              </a:lnSpc>
            </a:pPr>
            <a:endParaRPr lang="hu-HU" sz="1600" dirty="0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B221958C-52EA-51C6-EFFF-02055B081C16}"/>
              </a:ext>
            </a:extLst>
          </p:cNvPr>
          <p:cNvSpPr txBox="1"/>
          <p:nvPr/>
        </p:nvSpPr>
        <p:spPr>
          <a:xfrm>
            <a:off x="550331" y="1635134"/>
            <a:ext cx="5095514" cy="51706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itchFamily="2" charset="2"/>
              <a:buChar char="Ø"/>
            </a:pPr>
            <a:r>
              <a:rPr lang="hu-HU" sz="1500" b="1" dirty="0">
                <a:solidFill>
                  <a:schemeClr val="accent1"/>
                </a:solidFill>
              </a:rPr>
              <a:t>Rendszer célja:</a:t>
            </a:r>
            <a:r>
              <a:rPr lang="hu-HU" sz="1500" b="1" i="1" dirty="0">
                <a:solidFill>
                  <a:schemeClr val="accent1"/>
                </a:solidFill>
              </a:rPr>
              <a:t> </a:t>
            </a:r>
            <a:r>
              <a:rPr lang="hu-HU" sz="1500" dirty="0"/>
              <a:t>Az </a:t>
            </a:r>
            <a:r>
              <a:rPr lang="hu-HU" sz="1500"/>
              <a:t>előfeldolgozás</a:t>
            </a:r>
            <a:r>
              <a:rPr lang="hu-HU" sz="1500" dirty="0"/>
              <a:t> hatásának mérése az OCR pontosságára két különböző OCR motor esetén.</a:t>
            </a:r>
          </a:p>
          <a:p>
            <a:pPr marL="285750" indent="-285750">
              <a:buFont typeface="Wingdings" pitchFamily="2" charset="2"/>
              <a:buChar char="Ø"/>
            </a:pPr>
            <a:endParaRPr lang="hu-HU" sz="1500" b="1" dirty="0">
              <a:solidFill>
                <a:schemeClr val="accent1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endParaRPr lang="hu-HU" sz="1500" b="1" dirty="0">
              <a:solidFill>
                <a:schemeClr val="accent1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hu-HU" sz="1500" b="1" dirty="0">
                <a:solidFill>
                  <a:schemeClr val="accent1"/>
                </a:solidFill>
              </a:rPr>
              <a:t>Feldolgozási folyamat (</a:t>
            </a:r>
            <a:r>
              <a:rPr lang="hu-HU" sz="1500" b="1">
                <a:solidFill>
                  <a:schemeClr val="accent1"/>
                </a:solidFill>
              </a:rPr>
              <a:t>pipeline</a:t>
            </a:r>
            <a:r>
              <a:rPr lang="hu-HU" sz="1500" b="1" dirty="0">
                <a:solidFill>
                  <a:schemeClr val="accent1"/>
                </a:solidFill>
              </a:rPr>
              <a:t>):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 dirty="0"/>
              <a:t>Dokumentumkép beolvasása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/>
              <a:t>Előfeldolgozás</a:t>
            </a:r>
            <a:r>
              <a:rPr lang="hu-HU" sz="1500" dirty="0"/>
              <a:t> (</a:t>
            </a:r>
            <a:r>
              <a:rPr lang="hu-HU" sz="1500"/>
              <a:t>OpenCV</a:t>
            </a:r>
            <a:r>
              <a:rPr lang="hu-HU" sz="1500" dirty="0"/>
              <a:t>)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/>
              <a:t>OCR futtatása (EasyOCR / Tesseract / docTR)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 dirty="0"/>
              <a:t>Szöveg kinyerése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 dirty="0"/>
              <a:t>Kiértékelés és összehasonlítás</a:t>
            </a:r>
          </a:p>
          <a:p>
            <a:pPr>
              <a:buNone/>
            </a:pPr>
            <a:endParaRPr lang="hu-HU" sz="1500" dirty="0"/>
          </a:p>
          <a:p>
            <a:pPr>
              <a:buNone/>
            </a:pPr>
            <a:endParaRPr lang="hu-HU" sz="1500" dirty="0"/>
          </a:p>
          <a:p>
            <a:pPr marL="285750" indent="-285750">
              <a:buFont typeface="Wingdings" pitchFamily="2" charset="2"/>
              <a:buChar char="Ø"/>
            </a:pPr>
            <a:r>
              <a:rPr lang="hu-HU" sz="1500" b="1" dirty="0">
                <a:solidFill>
                  <a:schemeClr val="accent1"/>
                </a:solidFill>
              </a:rPr>
              <a:t>Használt technológiák: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 dirty="0"/>
              <a:t>Python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/>
              <a:t>OpenCV</a:t>
            </a:r>
            <a:r>
              <a:rPr lang="hu-HU" sz="1500" dirty="0"/>
              <a:t> – képfeldolgozás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 dirty="0"/>
              <a:t>EasyOCR – </a:t>
            </a:r>
            <a:r>
              <a:rPr lang="hu-HU" sz="1500"/>
              <a:t>neurális</a:t>
            </a:r>
            <a:r>
              <a:rPr lang="hu-HU" sz="1500" dirty="0"/>
              <a:t> OCR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 dirty="0"/>
              <a:t>Tesseract OCR – klasszikus OCR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/>
              <a:t>DocTR</a:t>
            </a:r>
            <a:r>
              <a:rPr lang="hu-HU" sz="1500" dirty="0"/>
              <a:t> </a:t>
            </a:r>
            <a:r>
              <a:rPr lang="hu-HU" sz="1500"/>
              <a:t>neurális</a:t>
            </a:r>
            <a:r>
              <a:rPr lang="hu-HU" sz="1500" dirty="0"/>
              <a:t> OCR (detektálás + felismerés)</a:t>
            </a:r>
          </a:p>
          <a:p>
            <a:pPr marL="857250" lvl="1" indent="-400050">
              <a:buFont typeface="+mj-lt"/>
              <a:buAutoNum type="romanUcPeriod"/>
            </a:pPr>
            <a:r>
              <a:rPr lang="hu-HU" sz="1500" dirty="0"/>
              <a:t>TrOCR </a:t>
            </a:r>
            <a:r>
              <a:rPr lang="hu-HU" sz="1500"/>
              <a:t>transformer</a:t>
            </a:r>
            <a:r>
              <a:rPr lang="hu-HU" sz="1500" dirty="0"/>
              <a:t> alapú OCR (EMNIST adatokhoz használva)</a:t>
            </a:r>
          </a:p>
          <a:p>
            <a:pPr marL="857250" lvl="1" indent="-400050">
              <a:buFont typeface="+mj-lt"/>
              <a:buAutoNum type="romanUcPeriod"/>
            </a:pPr>
            <a:endParaRPr lang="hu-HU" sz="1500" dirty="0"/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DDE3C887-4239-9851-2423-01AFF83F4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417" y="4011568"/>
            <a:ext cx="3045928" cy="1182209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39108A12-CA86-C2F0-0C2D-DC0283B4A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461" y="4162272"/>
            <a:ext cx="1991694" cy="112032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9E8E5B7-617D-BC4B-53F2-7112C81E5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1192" y="2595439"/>
            <a:ext cx="1026583" cy="102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59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CF2B88-C0F1-89A6-EADC-EE312FD5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501" y="225550"/>
            <a:ext cx="5831417" cy="802073"/>
          </a:xfrm>
        </p:spPr>
        <p:txBody>
          <a:bodyPr anchor="t">
            <a:normAutofit fontScale="90000"/>
          </a:bodyPr>
          <a:lstStyle/>
          <a:p>
            <a:r>
              <a:rPr lang="hu-HU" b="1" dirty="0"/>
              <a:t>Képfeldolgozási lépések</a:t>
            </a:r>
            <a:br>
              <a:rPr lang="hu-HU" b="1" dirty="0"/>
            </a:b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EFC855-58B0-C6C1-B83C-5F521F1D3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501" y="1372417"/>
            <a:ext cx="6222832" cy="159090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hu-HU" dirty="0"/>
              <a:t>Az </a:t>
            </a:r>
            <a:r>
              <a:rPr lang="hu-HU" dirty="0" err="1"/>
              <a:t>előfeldolgozás</a:t>
            </a:r>
            <a:r>
              <a:rPr lang="hu-HU" dirty="0"/>
              <a:t> célja a zaj csökkentése és a karakterek kiemelése az OCR pontosságának növeléséhez.</a:t>
            </a:r>
          </a:p>
          <a:p>
            <a:pPr>
              <a:lnSpc>
                <a:spcPct val="90000"/>
              </a:lnSpc>
            </a:pPr>
            <a:r>
              <a:rPr lang="hu-HU" dirty="0"/>
              <a:t>A képeken látható lépések (vágás, kiegyenesítés, szürkeárnyalat, </a:t>
            </a:r>
            <a:r>
              <a:rPr lang="hu-HU" dirty="0" err="1"/>
              <a:t>binarizálás</a:t>
            </a:r>
            <a:r>
              <a:rPr lang="hu-HU" dirty="0"/>
              <a:t>) előkészítik a dokumentumot a megbízható szövegfelismeréshez.</a:t>
            </a:r>
          </a:p>
          <a:p>
            <a:pPr>
              <a:lnSpc>
                <a:spcPct val="90000"/>
              </a:lnSpc>
            </a:pPr>
            <a:endParaRPr lang="hu-HU" dirty="0"/>
          </a:p>
          <a:p>
            <a:pPr>
              <a:lnSpc>
                <a:spcPct val="90000"/>
              </a:lnSpc>
            </a:pPr>
            <a:endParaRPr lang="hu-HU" dirty="0"/>
          </a:p>
          <a:p>
            <a:pPr>
              <a:lnSpc>
                <a:spcPct val="90000"/>
              </a:lnSpc>
            </a:pPr>
            <a:endParaRPr lang="hu-HU" dirty="0"/>
          </a:p>
        </p:txBody>
      </p: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3C7CA6CA-6A9E-A91B-39B1-6D7AB520E3EB}"/>
              </a:ext>
            </a:extLst>
          </p:cNvPr>
          <p:cNvCxnSpPr>
            <a:cxnSpLocks/>
          </p:cNvCxnSpPr>
          <p:nvPr/>
        </p:nvCxnSpPr>
        <p:spPr>
          <a:xfrm flipV="1">
            <a:off x="2904786" y="4871222"/>
            <a:ext cx="312715" cy="5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nyíllal 40">
            <a:extLst>
              <a:ext uri="{FF2B5EF4-FFF2-40B4-BE49-F238E27FC236}">
                <a16:creationId xmlns:a16="http://schemas.microsoft.com/office/drawing/2014/main" id="{26ECD756-A58B-5E68-DBAE-FD4D1FF87897}"/>
              </a:ext>
            </a:extLst>
          </p:cNvPr>
          <p:cNvCxnSpPr>
            <a:cxnSpLocks/>
          </p:cNvCxnSpPr>
          <p:nvPr/>
        </p:nvCxnSpPr>
        <p:spPr>
          <a:xfrm>
            <a:off x="5693326" y="4871222"/>
            <a:ext cx="312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F6091FAC-B7DA-62A4-0BF7-6EE62449A2DF}"/>
              </a:ext>
            </a:extLst>
          </p:cNvPr>
          <p:cNvCxnSpPr>
            <a:cxnSpLocks/>
          </p:cNvCxnSpPr>
          <p:nvPr/>
        </p:nvCxnSpPr>
        <p:spPr>
          <a:xfrm>
            <a:off x="1661414" y="3212354"/>
            <a:ext cx="0" cy="369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Kép 3">
            <a:extLst>
              <a:ext uri="{FF2B5EF4-FFF2-40B4-BE49-F238E27FC236}">
                <a16:creationId xmlns:a16="http://schemas.microsoft.com/office/drawing/2014/main" id="{D82F3059-5009-FDBC-D742-A0A248F9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8" y="436106"/>
            <a:ext cx="2047112" cy="279460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FE1CF0F-0C38-FFF2-88A0-3A5C372CD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6" y="3582156"/>
            <a:ext cx="2391656" cy="252211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95D7C25-C580-BC37-63F1-8CD79BAFE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585" y="3565978"/>
            <a:ext cx="2391657" cy="252211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541810E-AD30-B7E3-C3FE-82F8C2B7B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583" y="3610166"/>
            <a:ext cx="2391657" cy="252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2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35A6F0-7AF8-0AAB-4195-39E879EA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Valós képek tesztelése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D01D922-5EBD-6527-1E23-EC1DC1D2A3EF}"/>
              </a:ext>
            </a:extLst>
          </p:cNvPr>
          <p:cNvSpPr txBox="1"/>
          <p:nvPr/>
        </p:nvSpPr>
        <p:spPr>
          <a:xfrm>
            <a:off x="796576" y="1552760"/>
            <a:ext cx="5095514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itchFamily="2" charset="2"/>
              <a:buChar char="Ø"/>
            </a:pPr>
            <a:r>
              <a:rPr lang="hu-HU" sz="1600" dirty="0">
                <a:solidFill>
                  <a:schemeClr val="accent1"/>
                </a:solidFill>
              </a:rPr>
              <a:t>60 darab mobiltelefonnal készített kép.</a:t>
            </a:r>
          </a:p>
          <a:p>
            <a:pPr marL="285750" indent="-285750">
              <a:buFont typeface="Wingdings" pitchFamily="2" charset="2"/>
              <a:buChar char="Ø"/>
            </a:pPr>
            <a:endParaRPr lang="hu-HU" sz="1600" dirty="0">
              <a:solidFill>
                <a:schemeClr val="accent1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hu-HU" sz="1400" b="1" dirty="0">
                <a:solidFill>
                  <a:schemeClr val="accent1"/>
                </a:solidFill>
              </a:rPr>
              <a:t>Három kategória: </a:t>
            </a:r>
            <a:endParaRPr lang="hu-HU" sz="1400" dirty="0"/>
          </a:p>
          <a:p>
            <a:r>
              <a:rPr lang="hu-HU" sz="1400" dirty="0"/>
              <a:t>	1. szavak (20 db)</a:t>
            </a:r>
          </a:p>
          <a:p>
            <a:r>
              <a:rPr lang="hu-HU" sz="1400" dirty="0"/>
              <a:t>	2. szavak + számok (20 db)</a:t>
            </a:r>
          </a:p>
          <a:p>
            <a:r>
              <a:rPr lang="hu-HU" sz="1400" dirty="0"/>
              <a:t>	3. számok (20 db</a:t>
            </a:r>
          </a:p>
          <a:p>
            <a:endParaRPr lang="hu-HU" sz="15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hu-HU" sz="1600" dirty="0">
                <a:solidFill>
                  <a:schemeClr val="accent1"/>
                </a:solidFill>
              </a:rPr>
              <a:t>Minden képet két formában vizsgáltam:</a:t>
            </a:r>
          </a:p>
          <a:p>
            <a:r>
              <a:rPr lang="hu-HU" sz="1600" dirty="0"/>
              <a:t>  - RAW (nyers)</a:t>
            </a:r>
          </a:p>
          <a:p>
            <a:r>
              <a:rPr lang="hu-HU" sz="1600" dirty="0"/>
              <a:t>  - PROC (</a:t>
            </a:r>
            <a:r>
              <a:rPr lang="hu-HU" sz="1600" dirty="0" err="1"/>
              <a:t>előfeldolgozott</a:t>
            </a:r>
            <a:r>
              <a:rPr lang="hu-HU" sz="1600" dirty="0"/>
              <a:t>)</a:t>
            </a:r>
          </a:p>
          <a:p>
            <a:br>
              <a:rPr lang="hu-HU" sz="1600" dirty="0"/>
            </a:br>
            <a:endParaRPr lang="hu-HU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hu-HU" sz="1600" dirty="0">
                <a:solidFill>
                  <a:schemeClr val="accent1"/>
                </a:solidFill>
              </a:rPr>
              <a:t>3 OCR rendszer összehasonlítása:</a:t>
            </a:r>
          </a:p>
          <a:p>
            <a:r>
              <a:rPr lang="hu-HU" sz="1600" dirty="0"/>
              <a:t>  - EasyOCR</a:t>
            </a:r>
          </a:p>
          <a:p>
            <a:r>
              <a:rPr lang="hu-HU" sz="1600" dirty="0"/>
              <a:t>  - Tesseract</a:t>
            </a:r>
          </a:p>
          <a:p>
            <a:r>
              <a:rPr lang="hu-HU" sz="1600" dirty="0"/>
              <a:t>  - </a:t>
            </a:r>
            <a:r>
              <a:rPr lang="hu-HU" sz="1600" dirty="0" err="1"/>
              <a:t>docTR</a:t>
            </a:r>
            <a:endParaRPr lang="hu-HU" sz="1600" dirty="0"/>
          </a:p>
          <a:p>
            <a:br>
              <a:rPr lang="hu-HU" sz="1600" dirty="0"/>
            </a:br>
            <a:endParaRPr lang="hu-HU" sz="1600" dirty="0"/>
          </a:p>
          <a:p>
            <a:r>
              <a:rPr lang="hu-HU" sz="1600" dirty="0">
                <a:solidFill>
                  <a:schemeClr val="accent1"/>
                </a:solidFill>
              </a:rPr>
              <a:t>Cél: az </a:t>
            </a:r>
            <a:r>
              <a:rPr lang="hu-HU" sz="1600" dirty="0" err="1">
                <a:solidFill>
                  <a:schemeClr val="accent1"/>
                </a:solidFill>
              </a:rPr>
              <a:t>előfeldolgozás</a:t>
            </a:r>
            <a:r>
              <a:rPr lang="hu-HU" sz="1600" dirty="0">
                <a:solidFill>
                  <a:schemeClr val="accent1"/>
                </a:solidFill>
              </a:rPr>
              <a:t> hatásának vizsgálat</a:t>
            </a:r>
          </a:p>
          <a:p>
            <a:pPr marL="285750" indent="-285750">
              <a:buFont typeface="Wingdings" pitchFamily="2" charset="2"/>
              <a:buChar char="Ø"/>
            </a:pPr>
            <a:endParaRPr lang="hu-HU" sz="1500" b="1" dirty="0">
              <a:solidFill>
                <a:schemeClr val="accent1"/>
              </a:solidFill>
            </a:endParaRP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7F00C290-F4F4-7A1E-9270-C8AE37DD1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40" y="2526241"/>
            <a:ext cx="1687226" cy="180551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F18A9E0C-8AAD-8A73-5A5F-AFB5202B7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685" y="617193"/>
            <a:ext cx="1537881" cy="1615890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A55BA696-D08A-DB0D-BCE3-BFE8A1B17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686" y="4442882"/>
            <a:ext cx="1560170" cy="161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63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6DC28E5-8D20-185D-5203-E431C8E0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Valós Képek – OCR Eredmények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6E40E1-479D-A31D-02CB-32436337D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1500" dirty="0">
                <a:solidFill>
                  <a:schemeClr val="bg1"/>
                </a:solidFill>
              </a:rPr>
              <a:t>60 darab mobiltelefonnal készített kép alapján történt kiértékelés  </a:t>
            </a:r>
          </a:p>
          <a:p>
            <a:pPr>
              <a:lnSpc>
                <a:spcPct val="90000"/>
              </a:lnSpc>
            </a:pPr>
            <a:r>
              <a:rPr lang="hu-HU" sz="1500" dirty="0">
                <a:solidFill>
                  <a:schemeClr val="bg1"/>
                </a:solidFill>
              </a:rPr>
              <a:t>Az </a:t>
            </a:r>
            <a:r>
              <a:rPr lang="hu-HU" sz="1500" dirty="0" err="1">
                <a:solidFill>
                  <a:schemeClr val="bg1"/>
                </a:solidFill>
              </a:rPr>
              <a:t>előfeldolgozás</a:t>
            </a:r>
            <a:r>
              <a:rPr lang="hu-HU" sz="1500" dirty="0">
                <a:solidFill>
                  <a:schemeClr val="bg1"/>
                </a:solidFill>
              </a:rPr>
              <a:t> (PROC) minden esetben javította a pontosságot  </a:t>
            </a:r>
          </a:p>
          <a:p>
            <a:pPr>
              <a:lnSpc>
                <a:spcPct val="90000"/>
              </a:lnSpc>
            </a:pPr>
            <a:r>
              <a:rPr lang="hu-HU" sz="1500" dirty="0">
                <a:solidFill>
                  <a:schemeClr val="bg1"/>
                </a:solidFill>
              </a:rPr>
              <a:t>Az EasyOCR érte el a legjobb átlagos teljesítményt  </a:t>
            </a:r>
          </a:p>
          <a:p>
            <a:pPr>
              <a:lnSpc>
                <a:spcPct val="90000"/>
              </a:lnSpc>
            </a:pPr>
            <a:r>
              <a:rPr lang="hu-HU" sz="1500" dirty="0">
                <a:solidFill>
                  <a:schemeClr val="bg1"/>
                </a:solidFill>
              </a:rPr>
              <a:t>A Tesseract erősen függött a kép minőségétől  </a:t>
            </a:r>
          </a:p>
          <a:p>
            <a:pPr>
              <a:lnSpc>
                <a:spcPct val="90000"/>
              </a:lnSpc>
            </a:pPr>
            <a:r>
              <a:rPr lang="hu-HU" sz="1500" dirty="0">
                <a:solidFill>
                  <a:schemeClr val="bg1"/>
                </a:solidFill>
              </a:rPr>
              <a:t>A </a:t>
            </a:r>
            <a:r>
              <a:rPr lang="hu-HU" sz="1500" dirty="0" err="1">
                <a:solidFill>
                  <a:schemeClr val="bg1"/>
                </a:solidFill>
              </a:rPr>
              <a:t>docTR</a:t>
            </a:r>
            <a:r>
              <a:rPr lang="hu-HU" sz="1500" dirty="0">
                <a:solidFill>
                  <a:schemeClr val="bg1"/>
                </a:solidFill>
              </a:rPr>
              <a:t> gyengébb, de stabil eredményeket adott  </a:t>
            </a:r>
          </a:p>
          <a:p>
            <a:pPr>
              <a:lnSpc>
                <a:spcPct val="90000"/>
              </a:lnSpc>
            </a:pPr>
            <a:r>
              <a:rPr lang="hu-HU" sz="1500" dirty="0">
                <a:solidFill>
                  <a:schemeClr val="bg1"/>
                </a:solidFill>
              </a:rPr>
              <a:t>A számokat tartalmazó képek nehezebb feladatot jelentettek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CA3FC61-F563-B15E-9EE0-52C161563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29556" y="1684924"/>
            <a:ext cx="6233884" cy="3750676"/>
          </a:xfrm>
          <a:prstGeom prst="rect">
            <a:avLst/>
          </a:prstGeom>
          <a:noFill/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788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D67B0D-CA59-6606-80BD-A70D1C92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EMNIST alapú tesztelés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3F3E0B-49CC-7EC9-EB54-60572BC3C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3044"/>
            <a:ext cx="7852833" cy="242278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hu-HU" dirty="0"/>
              <a:t>200 darab generált kép</a:t>
            </a:r>
          </a:p>
          <a:p>
            <a:pPr>
              <a:buFont typeface="Wingdings" pitchFamily="2" charset="2"/>
              <a:buChar char="Ø"/>
            </a:pPr>
            <a:r>
              <a:rPr lang="hu-HU" dirty="0"/>
              <a:t>A képek kézírásos karakterekből készültek</a:t>
            </a:r>
          </a:p>
          <a:p>
            <a:pPr>
              <a:buFont typeface="Wingdings" pitchFamily="2" charset="2"/>
              <a:buChar char="Ø"/>
            </a:pPr>
            <a:r>
              <a:rPr lang="hu-HU" dirty="0"/>
              <a:t>A karakterekből mesterségesen szavakat hoztam létre</a:t>
            </a:r>
          </a:p>
          <a:p>
            <a:pPr>
              <a:buFont typeface="Wingdings" pitchFamily="2" charset="2"/>
              <a:buChar char="Ø"/>
            </a:pPr>
            <a:r>
              <a:rPr lang="hu-HU" dirty="0"/>
              <a:t> A tesztelés kontrollált környezetben történt  (nincs zaj, nincs torzítás)</a:t>
            </a:r>
          </a:p>
          <a:p>
            <a:pPr>
              <a:buFont typeface="Wingdings" pitchFamily="2" charset="2"/>
              <a:buChar char="Ø"/>
            </a:pPr>
            <a:r>
              <a:rPr lang="hu-HU" dirty="0"/>
              <a:t> Minden képhez ismert az elvárt szöveg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A1D382A-4CA3-7C3E-6DE6-828E4148F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379" y="3449252"/>
            <a:ext cx="2681058" cy="94954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D5A9279-5509-F0DB-DFC9-63109F358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653" y="4398794"/>
            <a:ext cx="3790366" cy="1005862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96682CD-6607-1DA8-D8C2-4FB20FC47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294" y="5472360"/>
            <a:ext cx="2336660" cy="993080"/>
          </a:xfrm>
          <a:prstGeom prst="rect">
            <a:avLst/>
          </a:prstGeom>
        </p:spPr>
      </p:pic>
      <p:sp>
        <p:nvSpPr>
          <p:cNvPr id="9" name="Tartalom helye 2">
            <a:extLst>
              <a:ext uri="{FF2B5EF4-FFF2-40B4-BE49-F238E27FC236}">
                <a16:creationId xmlns:a16="http://schemas.microsoft.com/office/drawing/2014/main" id="{550E2EA0-2909-5579-7AE5-5535BEF99F00}"/>
              </a:ext>
            </a:extLst>
          </p:cNvPr>
          <p:cNvSpPr>
            <a:spLocks noGrp="1"/>
          </p:cNvSpPr>
          <p:nvPr/>
        </p:nvSpPr>
        <p:spPr>
          <a:xfrm>
            <a:off x="677334" y="3642257"/>
            <a:ext cx="3731747" cy="2877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hu-HU" dirty="0"/>
              <a:t>EMNIST tesztelés menete:</a:t>
            </a:r>
          </a:p>
          <a:p>
            <a:pPr marL="800100" lvl="1" indent="-400050">
              <a:buFont typeface="+mj-lt"/>
              <a:buAutoNum type="romanUcPeriod"/>
            </a:pPr>
            <a:r>
              <a:rPr lang="hu-HU" dirty="0"/>
              <a:t>Generált képek betöltése</a:t>
            </a:r>
          </a:p>
          <a:p>
            <a:pPr marL="800100" lvl="1" indent="-400050">
              <a:buFont typeface="+mj-lt"/>
              <a:buAutoNum type="romanUcPeriod"/>
            </a:pPr>
            <a:r>
              <a:rPr lang="hu-HU" dirty="0"/>
              <a:t>OCR futtatása:  - EasyOCR  - Tesseract  - </a:t>
            </a:r>
            <a:r>
              <a:rPr lang="hu-HU" dirty="0" err="1"/>
              <a:t>docTR</a:t>
            </a:r>
            <a:r>
              <a:rPr lang="hu-HU" dirty="0"/>
              <a:t>  - TrOCR</a:t>
            </a:r>
          </a:p>
          <a:p>
            <a:pPr marL="800100" lvl="1" indent="-400050">
              <a:buFont typeface="+mj-lt"/>
              <a:buAutoNum type="romanUcPeriod"/>
            </a:pPr>
            <a:r>
              <a:rPr lang="hu-HU" dirty="0"/>
              <a:t>Felismert szöveg kiolvasása</a:t>
            </a:r>
          </a:p>
          <a:p>
            <a:pPr marL="800100" lvl="1" indent="-400050">
              <a:buFont typeface="+mj-lt"/>
              <a:buAutoNum type="romanUcPeriod"/>
            </a:pPr>
            <a:r>
              <a:rPr lang="hu-HU" dirty="0"/>
              <a:t>Összehasonlítás az elvárt szöveggel</a:t>
            </a:r>
          </a:p>
          <a:p>
            <a:pPr marL="800100" lvl="1" indent="-400050">
              <a:buFont typeface="+mj-lt"/>
              <a:buAutoNum type="romanUcPeriod"/>
            </a:pPr>
            <a:r>
              <a:rPr lang="hu-HU" dirty="0"/>
              <a:t>Pontosság számítása (%) </a:t>
            </a:r>
          </a:p>
        </p:txBody>
      </p:sp>
    </p:spTree>
    <p:extLst>
      <p:ext uri="{BB962C8B-B14F-4D97-AF65-F5344CB8AC3E}">
        <p14:creationId xmlns:p14="http://schemas.microsoft.com/office/powerpoint/2010/main" val="2998065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9F48882-000D-30D2-5D64-2BCE90ED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458601"/>
            <a:ext cx="4203045" cy="1375608"/>
          </a:xfrm>
        </p:spPr>
        <p:txBody>
          <a:bodyPr anchor="ctr">
            <a:norm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EMNIST Eredmények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FEF950-3420-98C6-ACE9-8DDA5DD9F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89"/>
            <a:ext cx="3973943" cy="436932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hu-HU" dirty="0">
                <a:solidFill>
                  <a:schemeClr val="bg1"/>
                </a:solidFill>
              </a:rPr>
              <a:t>200 generált tesztkép alapján történt kiértékelés </a:t>
            </a:r>
          </a:p>
          <a:p>
            <a:pPr>
              <a:buFont typeface="Wingdings" pitchFamily="2" charset="2"/>
              <a:buChar char="Ø"/>
            </a:pPr>
            <a:r>
              <a:rPr lang="hu-HU" dirty="0">
                <a:solidFill>
                  <a:schemeClr val="bg1"/>
                </a:solidFill>
              </a:rPr>
              <a:t>Kontrollált környezet, ismert elvárt szöveggel  </a:t>
            </a:r>
          </a:p>
          <a:p>
            <a:pPr>
              <a:buFont typeface="Wingdings" pitchFamily="2" charset="2"/>
              <a:buChar char="Ø"/>
            </a:pPr>
            <a:r>
              <a:rPr lang="hu-HU" dirty="0">
                <a:solidFill>
                  <a:schemeClr val="bg1"/>
                </a:solidFill>
              </a:rPr>
              <a:t>A TrOCR érte el a legjobb pontosságot  </a:t>
            </a:r>
          </a:p>
          <a:p>
            <a:pPr>
              <a:buFont typeface="Wingdings" pitchFamily="2" charset="2"/>
              <a:buChar char="Ø"/>
            </a:pPr>
            <a:r>
              <a:rPr lang="hu-HU" dirty="0">
                <a:solidFill>
                  <a:schemeClr val="bg1"/>
                </a:solidFill>
              </a:rPr>
              <a:t>A </a:t>
            </a:r>
            <a:r>
              <a:rPr lang="hu-HU" dirty="0" err="1">
                <a:solidFill>
                  <a:schemeClr val="bg1"/>
                </a:solidFill>
              </a:rPr>
              <a:t>neurális</a:t>
            </a:r>
            <a:r>
              <a:rPr lang="hu-HU" dirty="0">
                <a:solidFill>
                  <a:schemeClr val="bg1"/>
                </a:solidFill>
              </a:rPr>
              <a:t> modellek (TrOCR, EasyOCR) jobban teljesítettek  </a:t>
            </a:r>
          </a:p>
          <a:p>
            <a:pPr>
              <a:buFont typeface="Wingdings" pitchFamily="2" charset="2"/>
              <a:buChar char="Ø"/>
            </a:pPr>
            <a:r>
              <a:rPr lang="hu-HU" dirty="0">
                <a:solidFill>
                  <a:schemeClr val="bg1"/>
                </a:solidFill>
              </a:rPr>
              <a:t>A klasszikus OCR (Tesseract) gyengébb eredményt adott  </a:t>
            </a:r>
          </a:p>
          <a:p>
            <a:pPr>
              <a:buFont typeface="Wingdings" pitchFamily="2" charset="2"/>
              <a:buChar char="Ø"/>
            </a:pPr>
            <a:r>
              <a:rPr lang="hu-HU" dirty="0">
                <a:solidFill>
                  <a:schemeClr val="bg1"/>
                </a:solidFill>
              </a:rPr>
              <a:t>A </a:t>
            </a:r>
            <a:r>
              <a:rPr lang="hu-HU" dirty="0" err="1">
                <a:solidFill>
                  <a:schemeClr val="bg1"/>
                </a:solidFill>
              </a:rPr>
              <a:t>docTR</a:t>
            </a:r>
            <a:r>
              <a:rPr lang="hu-HU" dirty="0">
                <a:solidFill>
                  <a:schemeClr val="bg1"/>
                </a:solidFill>
              </a:rPr>
              <a:t> teljesítménye közepes volt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9E98C4AD-FD48-B15E-2711-4A0B9D20E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25623" y="1665750"/>
            <a:ext cx="6307970" cy="3795250"/>
          </a:xfrm>
          <a:prstGeom prst="rect">
            <a:avLst/>
          </a:prstGeom>
          <a:noFill/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37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9BEB169-A1D5-E31C-2336-8488B99FF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Valós és EMNIST eredmények összehasonlítása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02194A-CFCC-B1F4-5F3F-6948420E5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hu-HU">
                <a:solidFill>
                  <a:srgbClr val="FFFFFF"/>
                </a:solidFill>
              </a:rPr>
              <a:t>A valós képeken magasabb pontosság volt elérhető  </a:t>
            </a:r>
          </a:p>
          <a:p>
            <a:pPr>
              <a:lnSpc>
                <a:spcPct val="90000"/>
              </a:lnSpc>
            </a:pPr>
            <a:r>
              <a:rPr lang="hu-HU">
                <a:solidFill>
                  <a:srgbClr val="FFFFFF"/>
                </a:solidFill>
              </a:rPr>
              <a:t>Az EMNIST adatok nehezebb feladatot jelentettek  </a:t>
            </a:r>
          </a:p>
          <a:p>
            <a:pPr>
              <a:lnSpc>
                <a:spcPct val="90000"/>
              </a:lnSpc>
            </a:pPr>
            <a:r>
              <a:rPr lang="hu-HU">
                <a:solidFill>
                  <a:srgbClr val="FFFFFF"/>
                </a:solidFill>
              </a:rPr>
              <a:t>A neurális modellek (TrOCR) jobban teljesítettek EMNIST-en  </a:t>
            </a:r>
          </a:p>
          <a:p>
            <a:pPr>
              <a:lnSpc>
                <a:spcPct val="90000"/>
              </a:lnSpc>
            </a:pPr>
            <a:r>
              <a:rPr lang="hu-HU">
                <a:solidFill>
                  <a:srgbClr val="FFFFFF"/>
                </a:solidFill>
              </a:rPr>
              <a:t>A klasszikus OCR (Tesseract) érzékenyebb a torzításokra  </a:t>
            </a:r>
          </a:p>
          <a:p>
            <a:pPr>
              <a:lnSpc>
                <a:spcPct val="90000"/>
              </a:lnSpc>
            </a:pPr>
            <a:r>
              <a:rPr lang="hu-HU">
                <a:solidFill>
                  <a:srgbClr val="FFFFFF"/>
                </a:solidFill>
              </a:rPr>
              <a:t>Az előfeldolgozás hatása főként valós képeken jelen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7D3F8CE-496F-C619-249A-FBD032D90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2" y="1447822"/>
            <a:ext cx="4915537" cy="36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1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689583-63EA-66CB-0C6E-5DF56EEA5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7" y="213043"/>
            <a:ext cx="7990416" cy="771207"/>
          </a:xfrm>
        </p:spPr>
        <p:txBody>
          <a:bodyPr/>
          <a:lstStyle/>
          <a:p>
            <a:r>
              <a:rPr lang="hu-HU" dirty="0"/>
              <a:t>Hibás esetek ki elemzése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D8567A-A87A-7E53-E32F-89CCA080E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916" y="990156"/>
            <a:ext cx="9154583" cy="2319733"/>
          </a:xfrm>
        </p:spPr>
        <p:txBody>
          <a:bodyPr>
            <a:normAutofit fontScale="92500" lnSpcReduction="20000"/>
          </a:bodyPr>
          <a:lstStyle/>
          <a:p>
            <a:r>
              <a:rPr lang="hu-HU" b="1" dirty="0"/>
              <a:t>Extrém fényviszonyok</a:t>
            </a:r>
            <a:r>
              <a:rPr lang="hu-HU" dirty="0"/>
              <a:t>: Nagyon sötét vagy túl világos képek esetén a karakterek és a háttér közti kontraszt nem volt elegendő, ezért az OCR nem tudta megbízhatóan elkülöníteni a szöveget.</a:t>
            </a:r>
          </a:p>
          <a:p>
            <a:r>
              <a:rPr lang="hu-HU" b="1" dirty="0"/>
              <a:t>Háttér és árnyék problémák:</a:t>
            </a:r>
            <a:r>
              <a:rPr lang="hu-HU" dirty="0"/>
              <a:t> Erős árnyék, gyűrődés vagy zajos háttér megzavarta a karakterek körvonalait, ami hibás vagy hiányos felismerést eredményezett.</a:t>
            </a:r>
          </a:p>
          <a:p>
            <a:r>
              <a:rPr lang="hu-HU" b="1" dirty="0" err="1"/>
              <a:t>Előfeldolgozás</a:t>
            </a:r>
            <a:r>
              <a:rPr lang="hu-HU" b="1" dirty="0"/>
              <a:t> korlátai:</a:t>
            </a:r>
            <a:r>
              <a:rPr lang="hu-HU" dirty="0"/>
              <a:t> Bizonyos esetekben a </a:t>
            </a:r>
            <a:r>
              <a:rPr lang="hu-HU" dirty="0" err="1"/>
              <a:t>binarizálás</a:t>
            </a:r>
            <a:r>
              <a:rPr lang="hu-HU" dirty="0"/>
              <a:t> és kontrasztjavítás információvesztést okozott, ami rontotta a felismerés minőségét.</a:t>
            </a:r>
          </a:p>
          <a:p>
            <a:r>
              <a:rPr lang="hu-HU" b="1" dirty="0"/>
              <a:t>Karakter tévesztés</a:t>
            </a:r>
            <a:r>
              <a:rPr lang="hu-HU" dirty="0"/>
              <a:t>: Hasonló karakterek gyakori tévesztése (pl. O – 0, I – 1) 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72158BD-4C24-EAE8-1F8B-761818EDB3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68" y="3416036"/>
            <a:ext cx="2250560" cy="307376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C98BE02-5424-6301-9E33-A22ED5210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296" y="3416036"/>
            <a:ext cx="2231304" cy="3073760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AD3E1FD-1D01-0AB0-17C4-63AA0FC78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668" y="3416036"/>
            <a:ext cx="2231304" cy="3073277"/>
          </a:xfrm>
          <a:prstGeom prst="rect">
            <a:avLst/>
          </a:prstGeom>
        </p:spPr>
      </p:pic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2FD96A88-E9D2-88AE-E528-7C5F541EE7D5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5188600" y="4952675"/>
            <a:ext cx="241068" cy="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9388AE6B-1A64-5F80-AB37-3DA0E75463AA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716228" y="4952916"/>
            <a:ext cx="241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460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047484-9EA5-33E0-0044-AB127FAE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061" y="239183"/>
            <a:ext cx="7426855" cy="81915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b="1" dirty="0" err="1"/>
              <a:t>Összegzés</a:t>
            </a:r>
            <a:r>
              <a:rPr lang="en-US" sz="2800" b="1" dirty="0"/>
              <a:t> </a:t>
            </a:r>
            <a:r>
              <a:rPr lang="en-US" sz="2800" b="1" dirty="0" err="1"/>
              <a:t>és</a:t>
            </a:r>
            <a:r>
              <a:rPr lang="en-US" sz="2800" b="1" dirty="0"/>
              <a:t> </a:t>
            </a:r>
            <a:r>
              <a:rPr lang="en-US" sz="2800" b="1" dirty="0" err="1"/>
              <a:t>továbbfejlesztési</a:t>
            </a:r>
            <a:r>
              <a:rPr lang="en-US" sz="2800" b="1" dirty="0"/>
              <a:t> </a:t>
            </a:r>
            <a:r>
              <a:rPr lang="en-US" sz="2800" b="1" dirty="0" err="1"/>
              <a:t>lehetőségek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66" name="Kép 65">
            <a:extLst>
              <a:ext uri="{FF2B5EF4-FFF2-40B4-BE49-F238E27FC236}">
                <a16:creationId xmlns:a16="http://schemas.microsoft.com/office/drawing/2014/main" id="{4989F8D0-B6AC-049B-EE8D-435F81C2C6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85" t="4167" r="15597" b="1"/>
          <a:stretch>
            <a:fillRect/>
          </a:stretch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6" name="Tartalom helye 2">
            <a:extLst>
              <a:ext uri="{FF2B5EF4-FFF2-40B4-BE49-F238E27FC236}">
                <a16:creationId xmlns:a16="http://schemas.microsoft.com/office/drawing/2014/main" id="{5EF24391-7464-9C35-19F4-39F2BCEF7577}"/>
              </a:ext>
            </a:extLst>
          </p:cNvPr>
          <p:cNvSpPr txBox="1">
            <a:spLocks/>
          </p:cNvSpPr>
          <p:nvPr/>
        </p:nvSpPr>
        <p:spPr>
          <a:xfrm>
            <a:off x="2533955" y="1028237"/>
            <a:ext cx="6153066" cy="32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Az </a:t>
            </a:r>
            <a:r>
              <a:rPr lang="hu-HU" dirty="0" err="1"/>
              <a:t>előfeldolgozás</a:t>
            </a:r>
            <a:r>
              <a:rPr lang="hu-HU" dirty="0"/>
              <a:t> hatása OCR motoronként eltérő.</a:t>
            </a:r>
            <a:endParaRPr lang="en-US" dirty="0"/>
          </a:p>
          <a:p>
            <a:r>
              <a:rPr lang="hu-HU" dirty="0"/>
              <a:t>EasyOCR: stabil teljesítmény, kisebb javulás.</a:t>
            </a:r>
            <a:endParaRPr lang="en-US" dirty="0"/>
          </a:p>
          <a:p>
            <a:r>
              <a:rPr lang="hu-HU" dirty="0"/>
              <a:t>Tesseract: jelentős pontosságnövekedés </a:t>
            </a:r>
            <a:r>
              <a:rPr lang="hu-HU" dirty="0" err="1"/>
              <a:t>előfeldolgozás</a:t>
            </a:r>
            <a:r>
              <a:rPr lang="hu-HU" dirty="0"/>
              <a:t> után.</a:t>
            </a:r>
            <a:endParaRPr lang="en-US" dirty="0"/>
          </a:p>
          <a:p>
            <a:r>
              <a:rPr lang="hu-HU" dirty="0" err="1"/>
              <a:t>docTR</a:t>
            </a:r>
            <a:r>
              <a:rPr lang="hu-HU" dirty="0"/>
              <a:t>: közepes teljesítmény, kevésbé érzékeny.</a:t>
            </a:r>
          </a:p>
          <a:p>
            <a:r>
              <a:rPr lang="hu-HU" dirty="0"/>
              <a:t>TrOCR: a legjobb eredmény EMNIST adatokon</a:t>
            </a:r>
          </a:p>
          <a:p>
            <a:r>
              <a:rPr lang="hu-HU" dirty="0"/>
              <a:t>Következtetés: a </a:t>
            </a:r>
            <a:r>
              <a:rPr lang="hu-HU" dirty="0" err="1"/>
              <a:t>neurális</a:t>
            </a:r>
            <a:r>
              <a:rPr lang="hu-HU" dirty="0"/>
              <a:t> modellek robusztusabbak, míg a klasszikus OCR érzékenyebb a képminőségre</a:t>
            </a:r>
          </a:p>
          <a:p>
            <a:endParaRPr lang="hu-HU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9" name="Szövegdoboz 68">
            <a:extLst>
              <a:ext uri="{FF2B5EF4-FFF2-40B4-BE49-F238E27FC236}">
                <a16:creationId xmlns:a16="http://schemas.microsoft.com/office/drawing/2014/main" id="{5009A7AA-1903-7F92-E9DA-DD51543FCCEC}"/>
              </a:ext>
            </a:extLst>
          </p:cNvPr>
          <p:cNvSpPr txBox="1"/>
          <p:nvPr/>
        </p:nvSpPr>
        <p:spPr>
          <a:xfrm>
            <a:off x="3005666" y="4374753"/>
            <a:ext cx="472016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1700" b="1" dirty="0"/>
              <a:t>Továbbfejlesztés:</a:t>
            </a:r>
          </a:p>
          <a:p>
            <a:pPr marL="400050" indent="-400050">
              <a:buFont typeface="+mj-lt"/>
              <a:buAutoNum type="romanUcPeriod"/>
            </a:pPr>
            <a:r>
              <a:rPr lang="hu-HU" sz="1600" dirty="0"/>
              <a:t>Több és változatosabb tesztadat alkalmazása</a:t>
            </a:r>
            <a:endParaRPr lang="hu-HU" sz="1700" dirty="0"/>
          </a:p>
          <a:p>
            <a:pPr marL="400050" indent="-400050">
              <a:buFont typeface="+mj-lt"/>
              <a:buAutoNum type="romanUcPeriod"/>
            </a:pPr>
            <a:r>
              <a:rPr lang="hu-HU" sz="1600" dirty="0"/>
              <a:t>Fejlettebb, adaptív </a:t>
            </a:r>
            <a:r>
              <a:rPr lang="hu-HU" sz="1600" dirty="0" err="1"/>
              <a:t>előfeldolgozási</a:t>
            </a:r>
            <a:r>
              <a:rPr lang="hu-HU" sz="1600" dirty="0"/>
              <a:t> módszerek</a:t>
            </a:r>
          </a:p>
          <a:p>
            <a:pPr marL="400050" indent="-400050">
              <a:buFont typeface="+mj-lt"/>
              <a:buAutoNum type="romanUcPeriod"/>
            </a:pPr>
            <a:r>
              <a:rPr lang="hu-HU" sz="1600" dirty="0" err="1"/>
              <a:t>Neurális</a:t>
            </a:r>
            <a:r>
              <a:rPr lang="hu-HU" sz="1600" dirty="0"/>
              <a:t> OCR modellek finomhangolása</a:t>
            </a:r>
          </a:p>
          <a:p>
            <a:pPr marL="400050" indent="-400050">
              <a:buFont typeface="+mj-lt"/>
              <a:buAutoNum type="romanUcPeriod"/>
            </a:pPr>
            <a:r>
              <a:rPr lang="hu-HU" sz="1600" dirty="0"/>
              <a:t>Automatikus paraméter-optimalizálás</a:t>
            </a:r>
          </a:p>
          <a:p>
            <a:pPr marL="400050" indent="-400050">
              <a:buFont typeface="+mj-lt"/>
              <a:buAutoNum type="romanUcPeriod"/>
            </a:pPr>
            <a:r>
              <a:rPr lang="hu-HU" sz="1600" dirty="0"/>
              <a:t>További OCR rendszerek bevonása</a:t>
            </a:r>
          </a:p>
          <a:p>
            <a:pPr marL="400050" indent="-400050">
              <a:buFont typeface="+mj-lt"/>
              <a:buAutoNum type="romanUcPeriod"/>
            </a:pPr>
            <a:endParaRPr lang="hu-HU" sz="1700" dirty="0"/>
          </a:p>
        </p:txBody>
      </p:sp>
    </p:spTree>
    <p:extLst>
      <p:ext uri="{BB962C8B-B14F-4D97-AF65-F5344CB8AC3E}">
        <p14:creationId xmlns:p14="http://schemas.microsoft.com/office/powerpoint/2010/main" val="498030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A7F45A-40C7-99C7-52F5-1D2236648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hu-HU" dirty="0"/>
              <a:t>Irodalomjegyzék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FB8B1A-7923-63C2-E62F-BFD58D5EC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2833" y="1576917"/>
            <a:ext cx="3961169" cy="4011083"/>
          </a:xfrm>
        </p:spPr>
        <p:txBody>
          <a:bodyPr>
            <a:noAutofit/>
          </a:bodyPr>
          <a:lstStyle/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[1] A.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Artasanchez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and P.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Joshi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Artificial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Intelligence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with Python,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2nd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ed. Birmingham, UK: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Packt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Publishing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2020. </a:t>
            </a:r>
          </a:p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[2] F.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Dedov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Python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Bible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– 7 in 1.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Independently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published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2020. </a:t>
            </a:r>
          </a:p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[3] R. C. Gonzalez and R. E. Woods, Digital Image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Processing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4th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ed. Harlow, UK: Pearson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Education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2019. </a:t>
            </a:r>
          </a:p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[4]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OpenCV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“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OpenCV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Documentation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.” [Online].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Available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https://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docs.opencv.org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 [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Accessed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Apr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. 10, 2026]. </a:t>
            </a:r>
          </a:p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[5] Tesseract OCR, “Tesseract OCR Engine.” [Online].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Available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https://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github.com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tesseract-ocr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/tesseract [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Accessed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Apr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. 10, 2026]. </a:t>
            </a:r>
          </a:p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[6]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JaidedAI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“EasyOCR.” [Online].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Available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https://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github.com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JaidedAI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/EasyOCR [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Accessed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Apr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. 10, 2026]. </a:t>
            </a:r>
          </a:p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[7] Python Software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Foundation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“Python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Documentation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.” [Online].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Available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https://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docs.python.org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/3/ [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Accessed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Apr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. 10, 2026]. </a:t>
            </a:r>
          </a:p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[8]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Mindee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“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docTR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Document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Text Recognition.” [Online].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Available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https://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github.com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mindee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doctr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 [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Accessed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Apr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. 10, 2026]. </a:t>
            </a:r>
          </a:p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[9] Microsoft, “TrOCR: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Transformer-based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Optical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Character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Recognition.” [Online].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Available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https://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huggingface.co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microsoft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/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trocr-base-handwritten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 [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Accessed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Apr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. 10, 2026]. </a:t>
            </a:r>
          </a:p>
          <a:p>
            <a:pPr marL="400050" lvl="0" indent="-400050">
              <a:lnSpc>
                <a:spcPct val="90000"/>
              </a:lnSpc>
              <a:buFont typeface="+mj-lt"/>
              <a:buAutoNum type="romanUcPeriod"/>
            </a:pP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[10] G. Cohen, S.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Afshar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J. Tapson and A. van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Schaik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“EMNIST: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Extending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MNIST to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handwritten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letters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,” 2017 International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Joint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Conference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on </a:t>
            </a:r>
            <a:r>
              <a:rPr lang="hu-HU" sz="9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Neural</a:t>
            </a:r>
            <a:r>
              <a:rPr lang="hu-HU" sz="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Networks (IJCNN), Anchorage, AK, USA, 2017.</a:t>
            </a:r>
            <a:endParaRPr lang="hu-HU" sz="9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0EA5262-B534-D70F-A700-E50C40B3E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99" r="22288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7253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5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6" name="Isosceles Triangle 145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7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8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49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50" name="Isosceles Triangle 149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51" name="Isosceles Triangle 150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</p:grpSp>
      <p:pic>
        <p:nvPicPr>
          <p:cNvPr id="4" name="Kép 3">
            <a:extLst>
              <a:ext uri="{FF2B5EF4-FFF2-40B4-BE49-F238E27FC236}">
                <a16:creationId xmlns:a16="http://schemas.microsoft.com/office/drawing/2014/main" id="{23240C2A-484A-2900-32C8-84E5B1F3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54" r="1" b="30269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C11AFE8-AC4D-1D4A-655A-6931A548E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485" y="2089781"/>
            <a:ext cx="4879974" cy="14865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dirty="0" err="1"/>
              <a:t>Köszön</a:t>
            </a:r>
            <a:r>
              <a:rPr lang="hu-HU" sz="3500" dirty="0" err="1"/>
              <a:t>öm</a:t>
            </a:r>
            <a:r>
              <a:rPr lang="en-US" sz="3500" dirty="0"/>
              <a:t> a </a:t>
            </a:r>
            <a:r>
              <a:rPr lang="en-US" sz="3500" dirty="0" err="1"/>
              <a:t>figyelmet</a:t>
            </a:r>
            <a:r>
              <a:rPr lang="en-US" sz="3500" dirty="0"/>
              <a:t>!</a:t>
            </a:r>
            <a:br>
              <a:rPr lang="en-US" sz="3500" dirty="0"/>
            </a:br>
            <a:endParaRPr lang="en-US" sz="35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B601FB8-CE15-922D-AA95-A088A4C69892}"/>
              </a:ext>
            </a:extLst>
          </p:cNvPr>
          <p:cNvSpPr txBox="1"/>
          <p:nvPr/>
        </p:nvSpPr>
        <p:spPr>
          <a:xfrm>
            <a:off x="665693" y="3268663"/>
            <a:ext cx="4763558" cy="1218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hu-H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 milyen gépi látást használó alkalmazást használnál, ami megkönnyítené a mindennapjaidat?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59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61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63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65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67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69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6538349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15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6" baseType="lpstr">
      <vt:lpstr>Dimenzió</vt:lpstr>
      <vt:lpstr>Szöveges dokumentumok felismerésének vizsgálata különböző OCR rendszerek összehasonlításával  </vt:lpstr>
      <vt:lpstr>Tartalomjegyzék</vt:lpstr>
      <vt:lpstr>Bevezetés és célkitűzés  Hogyan befolyásolja az előfeldolgozás az OCR pontosságát?</vt:lpstr>
      <vt:lpstr>Elméleti háttér – OCR alapok és előfeldolgozás  </vt:lpstr>
      <vt:lpstr>A rendszer felépítése és működése</vt:lpstr>
      <vt:lpstr>Képfeldolgozási lépések </vt:lpstr>
      <vt:lpstr>Valós képek tesztelése</vt:lpstr>
      <vt:lpstr>Valós Képek – OCR Eredmények</vt:lpstr>
      <vt:lpstr>EMNIST alapú tesztelés</vt:lpstr>
      <vt:lpstr>EMNIST Eredmények</vt:lpstr>
      <vt:lpstr>Valós és EMNIST eredmények összehasonlítása</vt:lpstr>
      <vt:lpstr>Hibás esetek ki elemzése </vt:lpstr>
      <vt:lpstr>Összegzés és továbbfejlesztési lehetőségek </vt:lpstr>
      <vt:lpstr>Irodalomjegyzék</vt:lpstr>
      <vt:lpstr>Köszönöm a figyelmet!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Közösségi médiahasználat pro és kontra </dc:title>
  <dc:creator>Ádám Velekey</dc:creator>
  <cp:lastModifiedBy>Ádám Velekey</cp:lastModifiedBy>
  <cp:revision>19</cp:revision>
  <dcterms:created xsi:type="dcterms:W3CDTF">2025-05-02T09:52:45Z</dcterms:created>
  <dcterms:modified xsi:type="dcterms:W3CDTF">2026-05-18T17:13:48Z</dcterms:modified>
</cp:coreProperties>
</file>